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13"/>
    <p:sldId id="262" r:id="rId8"/>
    <p:sldId id="263" r:id="rId9"/>
    <p:sldId id="276" r:id="rId22"/>
    <p:sldId id="277" r:id="rId23"/>
    <p:sldId id="278" r:id="rId24"/>
    <p:sldId id="279" r:id="rId25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64" r:id="rId10"/>
    <p:sldId id="266" r:id="rId12"/>
    <p:sldId id="265" r:id="rId11"/>
    <p:sldId id="281" r:id="rId27"/>
    <p:sldId id="280" r:id="rId26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8676" y="777240"/>
            <a:ext cx="1371600" cy="1371600"/>
          </a:xfrm>
          <a:prstGeom prst="roundRect">
            <a:avLst>
              <a:gd name="adj" fmla="val 18667"/>
            </a:avLst>
          </a:prstGeom>
          <a:solidFill>
            <a:srgbClr val="3730A3"/>
          </a:solidFill>
          <a:ln/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5400000">
            <a:off x="5811012" y="1133856"/>
            <a:ext cx="658368" cy="658368"/>
          </a:xfrm>
          <a:prstGeom prst="triangl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31720"/>
            <a:ext cx="1218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spc="100" kern="0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VidEx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0" y="3127248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VidEx — Multimodal RAG Video Intelligence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554480" y="3639312"/>
            <a:ext cx="9079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Educational Videos into Interactive, Queryable Knowledge Bases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Graduation Project Defense</a:t>
            </a:r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Digital Egypt Pioneers Initiative (DEPI)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507492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5413248"/>
            <a:ext cx="2057400" cy="47548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41324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Ashraf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07208" y="5413248"/>
            <a:ext cx="2057400" cy="47548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07208" y="541324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Ziad Bassem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65776" y="5413248"/>
            <a:ext cx="2057400" cy="47548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541324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Mostafa Nasser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24344" y="5413248"/>
            <a:ext cx="2057400" cy="47548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24344" y="541324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Ismail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82912" y="5413248"/>
            <a:ext cx="2057400" cy="47548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82912" y="541324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Ramy Safwat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Educational Video Bottleneck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420624" cy="420624"/>
          </a:xfrm>
          <a:prstGeom prst="ellipse">
            <a:avLst/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5270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25296" y="1627632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Search Friction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25296" y="1929384"/>
            <a:ext cx="4718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waste hours scrubbing through long video timelines just to find a single localized concept.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99816"/>
            <a:ext cx="420624" cy="420624"/>
          </a:xfrm>
          <a:prstGeom prst="ellipse">
            <a:avLst/>
          </a:prstGeom>
          <a:solidFill>
            <a:srgbClr val="FEF2F2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9626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25296" y="3063240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Navigation Gap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25296" y="3364992"/>
            <a:ext cx="4718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indexing exists to connect spoken keywords to physical video timestamps.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35424"/>
            <a:ext cx="420624" cy="420624"/>
          </a:xfrm>
          <a:prstGeom prst="ellipse">
            <a:avLst/>
          </a:prstGeom>
          <a:solidFill>
            <a:srgbClr val="FE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39826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25296" y="4498848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Efficiency Loss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25296" y="4800600"/>
            <a:ext cx="4718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specific equations, code blocks, or slides is manually exhausting.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572768"/>
            <a:ext cx="52120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search today: scrub, guess, repeat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12280" y="3904488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6812280" y="3904488"/>
            <a:ext cx="1843430" cy="2743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4251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0" y="4251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2:13:44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41464" y="3520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51192" y="3776472"/>
            <a:ext cx="0" cy="128016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7614" y="3520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97342" y="3776472"/>
            <a:ext cx="0" cy="128016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16568" y="3520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26296" y="3776472"/>
            <a:ext cx="0" cy="128016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87154" y="3520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796882" y="3776472"/>
            <a:ext cx="0" cy="128016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77195" y="3520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586923" y="3776472"/>
            <a:ext cx="0" cy="128016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51192" y="4681728"/>
            <a:ext cx="19751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909560" y="4956048"/>
            <a:ext cx="13167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8567928" y="5230368"/>
            <a:ext cx="2018995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6812280" y="55504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 → rewind → seek again…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225856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per lecture locating one concept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Visual Blindness of Deployed AI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AUDIO-ONLY AI (ASR)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212080" y="1883664"/>
            <a:ext cx="365760" cy="365760"/>
          </a:xfrm>
          <a:prstGeom prst="ellipse">
            <a:avLst/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5074920" y="17465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459736"/>
            <a:ext cx="365760" cy="36576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90472" y="2423160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Audio-Only Limitations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490472" y="2724912"/>
            <a:ext cx="35387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transcribers (ASR) capture speech but completely ignore visual slide context.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694176"/>
            <a:ext cx="365760" cy="36576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57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90472" y="3657600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Ignored Visual Assets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90472" y="3959352"/>
            <a:ext cx="35387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On-screen code blocks, complex mathematical equations, and slide diagrams are lost.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5349240" cy="-3291840"/>
          </a:xfrm>
          <a:prstGeom prst="line">
            <a:avLst/>
          </a:prstGeom>
          <a:noFill/>
          <a:ln w="31750">
            <a:solidFill>
              <a:srgbClr val="DC2626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164592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EEF2FF"/>
          </a:solidFill>
          <a:ln w="22225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11112" y="19202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VISION — THE VIDEX APPROACH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954512" y="1883664"/>
            <a:ext cx="365760" cy="365760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0" name="Text 18"/>
          <p:cNvSpPr/>
          <p:nvPr/>
        </p:nvSpPr>
        <p:spPr>
          <a:xfrm>
            <a:off x="10817352" y="17465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11112" y="245973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32904" y="2423160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Hears the Lecture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32904" y="2724912"/>
            <a:ext cx="35387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speech transcription anchored to precise timestamps.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69417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3557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32904" y="3657600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the Screen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232904" y="3959352"/>
            <a:ext cx="35387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Slides, code, equations, and diagrams are indexed as searchable visual evidence.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230368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8680" y="554126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40410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08760" y="54681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Disconnection — 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professor points to a chart on-screen without speaking its exact name, the information becomes unsearchable.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Lack of Grounded Evidence &amp; Citations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965960" y="1691640"/>
            <a:ext cx="82296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25400">
            <a:solidFill>
              <a:srgbClr val="FECACA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92724" y="2057400"/>
            <a:ext cx="603504" cy="603504"/>
          </a:xfrm>
          <a:prstGeom prst="ellipse">
            <a:avLst/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5655564" y="1920240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42316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Generative answers without a source of truth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651760" y="3419856"/>
            <a:ext cx="384048" cy="384048"/>
          </a:xfrm>
          <a:prstGeom prst="ellipse">
            <a:avLst/>
          </a:prstGeom>
          <a:solidFill>
            <a:srgbClr val="FEF2F2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32826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33832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Risk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291840" y="3685032"/>
            <a:ext cx="6217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tools often fabricate facts when answering video-specific queries due to a lack of video-grounded data.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51760" y="4334256"/>
            <a:ext cx="384048" cy="384048"/>
          </a:xfrm>
          <a:prstGeom prst="ellipse">
            <a:avLst/>
          </a:prstGeom>
          <a:solidFill>
            <a:srgbClr val="FE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41970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42976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Source of Truth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291840" y="4599432"/>
            <a:ext cx="6217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Textual answers from standard LLMs are not tied to physical frames.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51760" y="5248656"/>
            <a:ext cx="384048" cy="384048"/>
          </a:xfrm>
          <a:prstGeom prst="ellipse">
            <a:avLst/>
          </a:prstGeom>
          <a:solidFill>
            <a:srgbClr val="FE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51114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91840" y="5212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Accountability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291840" y="5513832"/>
            <a:ext cx="6217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cannot verify the AI’s explanation without manually watching the entire video again.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VidEx Breakthrough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420624" cy="42062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6824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25296" y="178308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Integration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25296" y="2084832"/>
            <a:ext cx="39867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RAG platform indexing both spoken dialogue and sequential keyframe visual data simultaneously.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28416"/>
            <a:ext cx="420624" cy="42062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31912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5296" y="329184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25296" y="3593592"/>
            <a:ext cx="39867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raw video archives into structured, fully searchable vector databases.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37176"/>
            <a:ext cx="420624" cy="42062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7000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25296" y="480060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Answers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25296" y="5102352"/>
            <a:ext cx="39867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contextual explanations with clickable, interactive timestamp citations.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23560" y="1481328"/>
            <a:ext cx="598932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1719072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6153912" y="171907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9944" y="1719072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Shape 18"/>
          <p:cNvSpPr/>
          <p:nvPr/>
        </p:nvSpPr>
        <p:spPr>
          <a:xfrm>
            <a:off x="5623560" y="2011680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21" name="Image 0" descr="shots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97880" y="2240280"/>
            <a:ext cx="54406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SUBSYSTEMS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High-Level Architecture Pipeline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167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10451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PIPELINE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asynchronous · GPU-heavy · offline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121408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9264" y="2121408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Source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· YouTube · Drive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03320" y="2478024"/>
            <a:ext cx="685800" cy="292608"/>
          </a:xfrm>
          <a:prstGeom prst="rightArrow">
            <a:avLst/>
          </a:prstGeom>
          <a:solidFill>
            <a:srgbClr val="047857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2121408"/>
            <a:ext cx="288036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81144" y="2121408"/>
            <a:ext cx="2770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Compute (Modal)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ASR + SigLIP encoders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43800" y="2478024"/>
            <a:ext cx="685800" cy="292608"/>
          </a:xfrm>
          <a:prstGeom prst="rightArrow">
            <a:avLst/>
          </a:prstGeom>
          <a:solidFill>
            <a:srgbClr val="047857"/>
          </a:solidFill>
          <a:ln/>
        </p:spPr>
      </p:sp>
      <p:sp>
        <p:nvSpPr>
          <p:cNvPr id="12" name="Shape 10"/>
          <p:cNvSpPr/>
          <p:nvPr/>
        </p:nvSpPr>
        <p:spPr>
          <a:xfrm>
            <a:off x="8366760" y="2121408"/>
            <a:ext cx="288036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21624" y="2121408"/>
            <a:ext cx="2770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Cloud DB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+ image vector collections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1109167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867912"/>
            <a:ext cx="10451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QUERY-SERVING PIPELINE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synchronous · CPU-light · real-time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425196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9264" y="425196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and/or screenshot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46120" y="4608576"/>
            <a:ext cx="566928" cy="292608"/>
          </a:xfrm>
          <a:prstGeom prst="rightArrow">
            <a:avLst/>
          </a:prstGeom>
          <a:solidFill>
            <a:srgbClr val="047857"/>
          </a:solidFill>
          <a:ln/>
        </p:spPr>
      </p:sp>
      <p:sp>
        <p:nvSpPr>
          <p:cNvPr id="19" name="Shape 17"/>
          <p:cNvSpPr/>
          <p:nvPr/>
        </p:nvSpPr>
        <p:spPr>
          <a:xfrm>
            <a:off x="3931920" y="425196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86784" y="425196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· auth · validation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4608576"/>
            <a:ext cx="566928" cy="292608"/>
          </a:xfrm>
          <a:prstGeom prst="rightArrow">
            <a:avLst/>
          </a:prstGeom>
          <a:solidFill>
            <a:srgbClr val="047857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0" y="425196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04304" y="425196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Fusion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Dual-index retrieval merge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281160" y="4608576"/>
            <a:ext cx="566928" cy="292608"/>
          </a:xfrm>
          <a:prstGeom prst="rightArrow">
            <a:avLst/>
          </a:prstGeom>
          <a:solidFill>
            <a:srgbClr val="047857"/>
          </a:solidFill>
          <a:ln/>
        </p:spPr>
      </p:sp>
      <p:sp>
        <p:nvSpPr>
          <p:cNvPr id="25" name="Shape 23"/>
          <p:cNvSpPr/>
          <p:nvPr/>
        </p:nvSpPr>
        <p:spPr>
          <a:xfrm>
            <a:off x="9966960" y="4251960"/>
            <a:ext cx="1673352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21824" y="4251960"/>
            <a:ext cx="1563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LLM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answer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833872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833872"/>
            <a:ext cx="10360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Architecture — 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decouples heavy GPU-based offline ingestion from lightweight CPU-based online user requests.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SUBSYSTEMS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Component Archetype: Frontend SPA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6824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25296" y="1783080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Stack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25296" y="2084832"/>
            <a:ext cx="40325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pure Vanilla JS and Tailwind CSS for rapid client rendering without bulky library dependencies.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2841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31912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25296" y="3291840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Theme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25296" y="3593592"/>
            <a:ext cx="40325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interactive modern UI optimized for long-session readability.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3717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7000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5296" y="4800600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Synchronization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25296" y="5102352"/>
            <a:ext cx="40325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Seamlessly pairs video player controls with LLM chat updates.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23560" y="1481328"/>
            <a:ext cx="598932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1719072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6153912" y="171907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9944" y="1719072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Shape 18"/>
          <p:cNvSpPr/>
          <p:nvPr/>
        </p:nvSpPr>
        <p:spPr>
          <a:xfrm>
            <a:off x="5623560" y="2011680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21" name="Image 0" descr="shots/spa_workspa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97880" y="2240280"/>
            <a:ext cx="54406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SUBSYSTEMS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Client-Side Page Component Matrix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15184" cy="39319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03120"/>
            <a:ext cx="566928" cy="566928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9659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86584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9718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 Page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352044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sign-up / login panels utilizing JWT token sessions.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74136" y="1783080"/>
            <a:ext cx="2615184" cy="39319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6744" y="2103120"/>
            <a:ext cx="566928" cy="566928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9584" y="19659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66744" y="29718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Dashboard View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666744" y="352044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hub for video management, status tracking, and collections.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1783080"/>
            <a:ext cx="2615184" cy="39319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2103120"/>
            <a:ext cx="566928" cy="566928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9659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⧉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037576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29718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Workspace Canvas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92240" y="352044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screen combining the synchronized media player and interactive chat workspace.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25128" y="1783080"/>
            <a:ext cx="2615184" cy="39319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17736" y="2103120"/>
            <a:ext cx="566928" cy="566928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4" name="Text 22"/>
          <p:cNvSpPr/>
          <p:nvPr/>
        </p:nvSpPr>
        <p:spPr>
          <a:xfrm>
            <a:off x="9180576" y="19659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0863072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17736" y="29718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Subscriptions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317736" y="352044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scaling presentation layout.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decoupled client views, one lightweight SPA shell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SUBSYSTEMS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Component Archetype: Core Backend Engine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548640" cy="54864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" y="2240280"/>
            <a:ext cx="256032" cy="347472"/>
          </a:xfrm>
          <a:prstGeom prst="lightningBolt">
            <a:avLst/>
          </a:prstGeom>
          <a:solidFill>
            <a:srgbClr val="3730A3"/>
          </a:solidFill>
          <a:ln/>
        </p:spPr>
      </p:sp>
      <p:sp>
        <p:nvSpPr>
          <p:cNvPr id="7" name="Text 5"/>
          <p:cNvSpPr/>
          <p:nvPr/>
        </p:nvSpPr>
        <p:spPr>
          <a:xfrm>
            <a:off x="1783080" y="203911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FastAPI Core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984248"/>
            <a:ext cx="6263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High-performance, ASGI-compliant backend framework managing routing and payload serialization.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6576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20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35478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Pydantic Validation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3493008"/>
            <a:ext cx="6263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Employs strict Pydantic v2 schemas to validate data inputs and API contracts across all database layers.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166360"/>
            <a:ext cx="548640" cy="54864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29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50566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Path Protections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5001768"/>
            <a:ext cx="6263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JWT middleware securing user workspaces and sensitive API paths.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SUBSYSTEMS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Serverless GPU Compute: Modal GPU Node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6824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25296" y="1783080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Scaling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25296" y="2084832"/>
            <a:ext cx="4443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Spins up Nvidia T4 GPU instances dynamically on video upload.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31729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25296" y="3273552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Efficiency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25296" y="3575304"/>
            <a:ext cx="4443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scales down to zero when idle to save computational resources.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6634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5296" y="4764024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Isolation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25296" y="5065776"/>
            <a:ext cx="4443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Offloads intensive Whisper and SigLIP inference tasks from the main API web server.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572768"/>
            <a:ext cx="534924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18105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lifecycle on video upload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66560" y="2240280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21424" y="22402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event received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enqueues ingestion job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837676" y="3008376"/>
            <a:ext cx="201168" cy="237744"/>
          </a:xfrm>
          <a:prstGeom prst="downArrow">
            <a:avLst/>
          </a:prstGeom>
          <a:solidFill>
            <a:srgbClr val="047857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0" y="3264408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EEF2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21424" y="326440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boots — Nvidia T4 GPU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+ model weights loaded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837676" y="4032504"/>
            <a:ext cx="201168" cy="237744"/>
          </a:xfrm>
          <a:prstGeom prst="downArrow">
            <a:avLst/>
          </a:prstGeom>
          <a:solidFill>
            <a:srgbClr val="047857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6560" y="4288536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EEF2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21424" y="428853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+ SigLIP inference runs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&amp; keyframes vectorized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837676" y="5056632"/>
            <a:ext cx="201168" cy="237744"/>
          </a:xfrm>
          <a:prstGeom prst="downArrow">
            <a:avLst/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6766560" y="5312664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21424" y="5312664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zero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→ container released, cost stops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SUBSYSTEMS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Multi-Tier Optimization Protocols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603504" cy="60350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304288"/>
            <a:ext cx="329184" cy="384048"/>
          </a:xfrm>
          <a:prstGeom prst="lightningBolt">
            <a:avLst/>
          </a:prstGeom>
          <a:solidFill>
            <a:srgbClr val="04785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Query Cache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Deploys an LRU cache to instantly return responses for recurring questions with 0 ms model latency.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507492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074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LRU · in-memory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34256" y="182880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54296" y="2194560"/>
            <a:ext cx="603504" cy="60350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791456" y="2304288"/>
            <a:ext cx="329184" cy="384048"/>
          </a:xfrm>
          <a:prstGeom prst="lightningBolt">
            <a:avLst/>
          </a:prstGeom>
          <a:solidFill>
            <a:srgbClr val="047857"/>
          </a:solidFill>
          <a:ln/>
        </p:spPr>
      </p:sp>
      <p:sp>
        <p:nvSpPr>
          <p:cNvPr id="14" name="Text 12"/>
          <p:cNvSpPr/>
          <p:nvPr/>
        </p:nvSpPr>
        <p:spPr>
          <a:xfrm>
            <a:off x="4654296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Inference Cache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54296" y="35204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local disk-based hashing to bypass redundant embedding calculations on overlapping image frames.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54296" y="507492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7" name="Text 15"/>
          <p:cNvSpPr/>
          <p:nvPr/>
        </p:nvSpPr>
        <p:spPr>
          <a:xfrm>
            <a:off x="4654296" y="5074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· content-hash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19872" y="182880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39912" y="2194560"/>
            <a:ext cx="603504" cy="60350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0" name="Shape 18"/>
          <p:cNvSpPr/>
          <p:nvPr/>
        </p:nvSpPr>
        <p:spPr>
          <a:xfrm>
            <a:off x="8577072" y="2304288"/>
            <a:ext cx="329184" cy="384048"/>
          </a:xfrm>
          <a:prstGeom prst="lightningBolt">
            <a:avLst/>
          </a:prstGeom>
          <a:solidFill>
            <a:srgbClr val="047857"/>
          </a:solidFill>
          <a:ln/>
        </p:spPr>
      </p:sp>
      <p:sp>
        <p:nvSpPr>
          <p:cNvPr id="21" name="Text 19"/>
          <p:cNvSpPr/>
          <p:nvPr/>
        </p:nvSpPr>
        <p:spPr>
          <a:xfrm>
            <a:off x="8439912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Lazy Initialization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439912" y="35204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Delays heavy model boot operations until actual user requests require them.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39912" y="507492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24" name="Text 22"/>
          <p:cNvSpPr/>
          <p:nvPr/>
        </p:nvSpPr>
        <p:spPr>
          <a:xfrm>
            <a:off x="8439912" y="5074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boot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897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 of caching keep the online path fast and the GPU bill low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 &amp; ALGORITHMS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End-to-End Ingestion Workflow Pipeline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2971800" cy="868680"/>
          </a:xfrm>
          <a:prstGeom prst="homePlate">
            <a:avLst/>
          </a:prstGeom>
          <a:solidFill>
            <a:srgbClr val="3730A3"/>
          </a:solidFill>
          <a:ln/>
        </p:spPr>
      </p:sp>
      <p:sp>
        <p:nvSpPr>
          <p:cNvPr id="5" name="Text 3"/>
          <p:cNvSpPr/>
          <p:nvPr/>
        </p:nvSpPr>
        <p:spPr>
          <a:xfrm>
            <a:off x="886968" y="19659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 Ingest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74136" y="1965960"/>
            <a:ext cx="2971800" cy="868680"/>
          </a:xfrm>
          <a:prstGeom prst="chevron">
            <a:avLst/>
          </a:prstGeom>
          <a:solidFill>
            <a:srgbClr val="3730A3"/>
          </a:solidFill>
          <a:ln/>
        </p:spPr>
      </p:sp>
      <p:sp>
        <p:nvSpPr>
          <p:cNvPr id="7" name="Text 5"/>
          <p:cNvSpPr/>
          <p:nvPr/>
        </p:nvSpPr>
        <p:spPr>
          <a:xfrm>
            <a:off x="3877056" y="19659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 Isolate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89904" y="1965960"/>
            <a:ext cx="2971800" cy="868680"/>
          </a:xfrm>
          <a:prstGeom prst="chevron">
            <a:avLst/>
          </a:prstGeom>
          <a:solidFill>
            <a:srgbClr val="3730A3"/>
          </a:solidFill>
          <a:ln/>
        </p:spPr>
      </p:sp>
      <p:sp>
        <p:nvSpPr>
          <p:cNvPr id="9" name="Text 7"/>
          <p:cNvSpPr/>
          <p:nvPr/>
        </p:nvSpPr>
        <p:spPr>
          <a:xfrm>
            <a:off x="6592824" y="19659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 Vectorize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05672" y="1965960"/>
            <a:ext cx="2971800" cy="868680"/>
          </a:xfrm>
          <a:prstGeom prst="chevron">
            <a:avLst/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9308592" y="19659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 Store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" y="3200400"/>
            <a:ext cx="24688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87552" y="342900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video resources from local storage, Google Drive, or YouTube URLs.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83864" y="3200400"/>
            <a:ext cx="24688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03320" y="342900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audio tracks and segment visual frames.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3200400"/>
            <a:ext cx="24688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19088" y="342900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contextual embeddings using deep learning encoders.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15400" y="3200400"/>
            <a:ext cx="24688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34856" y="342900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embeddings into deterministic points within the vector database.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897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asynchronous pipeline turns raw video into a queryable knowledge base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 &amp; ALGORITHMS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Audio Processing Layer: OpenAI Whisper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6824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25296" y="1783080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25296" y="2084832"/>
            <a:ext cx="42153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'base' model is deployed to secure high accuracy with low latency overhead.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2841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31912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25296" y="3291840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Windowing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25296" y="3593592"/>
            <a:ext cx="42153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Divides audio signals into distinct 30,000 ms duration chunks.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3717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7000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5296" y="4800600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Protection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25296" y="5102352"/>
            <a:ext cx="42153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a 5,000 ms sliding step overlap to prevent sentences from being cut off at chunk boundaries.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1572768"/>
            <a:ext cx="557784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810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 windows · 25 s stride · 5 s overlap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2395728"/>
            <a:ext cx="4663440" cy="20116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6517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track →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3108960"/>
            <a:ext cx="1865376" cy="50292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 w="15875">
            <a:solidFill>
              <a:srgbClr val="3730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10896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1 · 30,000 ms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91272" y="3886200"/>
            <a:ext cx="1865376" cy="50292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 w="15875">
            <a:solidFill>
              <a:srgbClr val="3730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91272" y="388620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2 · 30,000 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91272" y="3108960"/>
            <a:ext cx="466344" cy="1280160"/>
          </a:xfrm>
          <a:prstGeom prst="rect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047857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290304" y="4663440"/>
            <a:ext cx="1865376" cy="50292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 w="15875">
            <a:solidFill>
              <a:srgbClr val="3730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90304" y="466344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3 · 30,000 ms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90304" y="3886200"/>
            <a:ext cx="466344" cy="1280160"/>
          </a:xfrm>
          <a:prstGeom prst="rect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047857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355080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ms overlap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shared context keeps sentences whole across boundaries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 &amp; ALGORITHMS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Computer Vision Quality Optimization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 flipV="1">
            <a:off x="822960" y="1783080"/>
            <a:ext cx="4937760" cy="804672"/>
          </a:xfrm>
          <a:prstGeom prst="trapezoid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raw candidate frames / segment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 flipV="1">
            <a:off x="1257300" y="2715768"/>
            <a:ext cx="4069080" cy="804672"/>
          </a:xfrm>
          <a:prstGeom prst="trapezoid">
            <a:avLst/>
          </a:prstGeom>
          <a:solidFill>
            <a:srgbClr val="3730A3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2715768"/>
            <a:ext cx="4069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Luminance filter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 flipV="1">
            <a:off x="1691640" y="3648456"/>
            <a:ext cx="3200400" cy="804672"/>
          </a:xfrm>
          <a:prstGeom prst="trapezoid">
            <a:avLst/>
          </a:prstGeom>
          <a:solidFill>
            <a:srgbClr val="312E81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3648456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 rejection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2125980" y="4581144"/>
            <a:ext cx="2331720" cy="804672"/>
          </a:xfrm>
          <a:prstGeom prst="trapezoid">
            <a:avLst/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2125980" y="4581144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pHash dedup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280160" y="5641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unique, sharp, informative keyframes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91256" y="6053328"/>
            <a:ext cx="201168" cy="219456"/>
          </a:xfrm>
          <a:prstGeom prst="downArrow">
            <a:avLst/>
          </a:prstGeom>
          <a:solidFill>
            <a:srgbClr val="047857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1773936"/>
            <a:ext cx="384048" cy="384048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6367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⅛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78040" y="173736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Sub-Sampling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178040" y="2039112"/>
            <a:ext cx="4434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8 raw candidate frames per temporal segment to reduce database bloat.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2926080"/>
            <a:ext cx="384048" cy="384048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78040" y="288950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Luminance Filter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178040" y="3191256"/>
            <a:ext cx="4434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Drops dark/black transition frames below a set brightness threshold.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4078224"/>
            <a:ext cx="384048" cy="384048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9410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78040" y="404164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 Rejection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178040" y="4343400"/>
            <a:ext cx="4434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Laplacian variance math to calculate and discard out-of-focus imagery.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5230368"/>
            <a:ext cx="384048" cy="384048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5093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78040" y="519379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pHash Deduplication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178040" y="5495544"/>
            <a:ext cx="4434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Employs Perceptual Hashing (pHash) metrics to filter out redundant slide frames.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 &amp; ALGORITHMS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Cross-Modal Vector Spaces: Google SigLIP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6824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25296" y="1783080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Variant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25296" y="2084832"/>
            <a:ext cx="42153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Deploys siglip-base-patch16-224 as the core cross-modal encoder.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2841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31912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25296" y="3291840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Dimension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25296" y="3593592"/>
            <a:ext cx="42153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both text strings and visual keyframes into a shared 768-dimensional space.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3717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7000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5296" y="4800600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Loss Advantage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25296" y="5102352"/>
            <a:ext cx="42153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CLIP's softmax loss with a pairwise sigmoid loss to improve scaling and search performance.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1572768"/>
            <a:ext cx="557784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810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coordinate space for words and pixels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543800" y="3200400"/>
            <a:ext cx="3017520" cy="2331720"/>
          </a:xfrm>
          <a:prstGeom prst="ellipse">
            <a:avLst/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4892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768-D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space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42832" y="4224528"/>
            <a:ext cx="219456" cy="219456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22860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9944" y="228600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“gradient descent”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query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89720" y="22860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44584" y="228600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 lecture keyframe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image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2971800"/>
            <a:ext cx="1591056" cy="1307592"/>
          </a:xfrm>
          <a:prstGeom prst="line">
            <a:avLst/>
          </a:prstGeom>
          <a:noFill/>
          <a:ln w="22225">
            <a:solidFill>
              <a:srgbClr val="3730A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241280" y="2971800"/>
            <a:ext cx="-1133856" cy="1307592"/>
          </a:xfrm>
          <a:prstGeom prst="line">
            <a:avLst/>
          </a:prstGeom>
          <a:noFill/>
          <a:ln w="22225">
            <a:solidFill>
              <a:srgbClr val="3730A3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355080" y="5806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coordinate  →  cross-modal match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 &amp; ALGORITHMS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Vector DB Foundations: Qdrant Cloud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6824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25296" y="1783080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Dual-Collection Strategy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25296" y="2084832"/>
            <a:ext cx="42153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Decouples text transcripts from image frame indexes in separate namespaces.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2841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31912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25296" y="3291840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Points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25296" y="3593592"/>
            <a:ext cx="42153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UUID5 hashes generated from (video_id, chunk_index, timestamp) to create point IDs.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3717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7000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5296" y="4800600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 Enforced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25296" y="5102352"/>
            <a:ext cx="42153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duplicate entries when re-uploading the same video.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1572768"/>
            <a:ext cx="557784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810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collection: </a:t>
            </a:r>
            <a:pPr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</a:t>
            </a:r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keyframes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2286000"/>
            <a:ext cx="4937760" cy="768096"/>
          </a:xfrm>
          <a:prstGeom prst="roundRect">
            <a:avLst>
              <a:gd name="adj" fmla="val 107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724912"/>
            <a:ext cx="91440" cy="128016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20" name="Shape 18"/>
          <p:cNvSpPr/>
          <p:nvPr/>
        </p:nvSpPr>
        <p:spPr>
          <a:xfrm>
            <a:off x="6693408" y="2532888"/>
            <a:ext cx="91440" cy="32004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21" name="Shape 19"/>
          <p:cNvSpPr/>
          <p:nvPr/>
        </p:nvSpPr>
        <p:spPr>
          <a:xfrm>
            <a:off x="6848856" y="2660904"/>
            <a:ext cx="91440" cy="192024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22" name="Shape 20"/>
          <p:cNvSpPr/>
          <p:nvPr/>
        </p:nvSpPr>
        <p:spPr>
          <a:xfrm>
            <a:off x="7004304" y="2468880"/>
            <a:ext cx="91440" cy="384048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23" name="Shape 21"/>
          <p:cNvSpPr/>
          <p:nvPr/>
        </p:nvSpPr>
        <p:spPr>
          <a:xfrm>
            <a:off x="7159752" y="2596896"/>
            <a:ext cx="91440" cy="25603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0" y="2724912"/>
            <a:ext cx="91440" cy="128016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25" name="Shape 23"/>
          <p:cNvSpPr/>
          <p:nvPr/>
        </p:nvSpPr>
        <p:spPr>
          <a:xfrm>
            <a:off x="7470648" y="2532888"/>
            <a:ext cx="91440" cy="32004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26" name="Text 24"/>
          <p:cNvSpPr/>
          <p:nvPr/>
        </p:nvSpPr>
        <p:spPr>
          <a:xfrm>
            <a:off x="7909560" y="23591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uuid5(vid, 0, 00:00)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payload: { video_id, chunk_index, timestamp }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55080" y="3218688"/>
            <a:ext cx="4937760" cy="768096"/>
          </a:xfrm>
          <a:prstGeom prst="roundRect">
            <a:avLst>
              <a:gd name="adj" fmla="val 107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3529584"/>
            <a:ext cx="91440" cy="25603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29" name="Shape 27"/>
          <p:cNvSpPr/>
          <p:nvPr/>
        </p:nvSpPr>
        <p:spPr>
          <a:xfrm>
            <a:off x="6693408" y="3657600"/>
            <a:ext cx="91440" cy="128016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0" name="Shape 28"/>
          <p:cNvSpPr/>
          <p:nvPr/>
        </p:nvSpPr>
        <p:spPr>
          <a:xfrm>
            <a:off x="6848856" y="3465576"/>
            <a:ext cx="91440" cy="32004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1" name="Shape 29"/>
          <p:cNvSpPr/>
          <p:nvPr/>
        </p:nvSpPr>
        <p:spPr>
          <a:xfrm>
            <a:off x="7004304" y="3593592"/>
            <a:ext cx="91440" cy="192024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2" name="Shape 30"/>
          <p:cNvSpPr/>
          <p:nvPr/>
        </p:nvSpPr>
        <p:spPr>
          <a:xfrm>
            <a:off x="7159752" y="3401568"/>
            <a:ext cx="91440" cy="384048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0" y="3529584"/>
            <a:ext cx="91440" cy="25603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4" name="Shape 32"/>
          <p:cNvSpPr/>
          <p:nvPr/>
        </p:nvSpPr>
        <p:spPr>
          <a:xfrm>
            <a:off x="7470648" y="3657600"/>
            <a:ext cx="91440" cy="128016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5" name="Text 33"/>
          <p:cNvSpPr/>
          <p:nvPr/>
        </p:nvSpPr>
        <p:spPr>
          <a:xfrm>
            <a:off x="7909560" y="3291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uuid5(vid, 1, 00:25)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payload: { video_id, chunk_index, timestamp }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55080" y="4151376"/>
            <a:ext cx="4937760" cy="768096"/>
          </a:xfrm>
          <a:prstGeom prst="roundRect">
            <a:avLst>
              <a:gd name="adj" fmla="val 107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4334256"/>
            <a:ext cx="91440" cy="38404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8" name="Shape 36"/>
          <p:cNvSpPr/>
          <p:nvPr/>
        </p:nvSpPr>
        <p:spPr>
          <a:xfrm>
            <a:off x="6693408" y="4462272"/>
            <a:ext cx="91440" cy="25603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9" name="Shape 37"/>
          <p:cNvSpPr/>
          <p:nvPr/>
        </p:nvSpPr>
        <p:spPr>
          <a:xfrm>
            <a:off x="6848856" y="4590288"/>
            <a:ext cx="91440" cy="12801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0" name="Shape 38"/>
          <p:cNvSpPr/>
          <p:nvPr/>
        </p:nvSpPr>
        <p:spPr>
          <a:xfrm>
            <a:off x="7004304" y="4398264"/>
            <a:ext cx="91440" cy="3200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1" name="Shape 39"/>
          <p:cNvSpPr/>
          <p:nvPr/>
        </p:nvSpPr>
        <p:spPr>
          <a:xfrm>
            <a:off x="7159752" y="4526280"/>
            <a:ext cx="91440" cy="19202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2" name="Shape 40"/>
          <p:cNvSpPr/>
          <p:nvPr/>
        </p:nvSpPr>
        <p:spPr>
          <a:xfrm>
            <a:off x="7315200" y="4334256"/>
            <a:ext cx="91440" cy="38404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3" name="Shape 41"/>
          <p:cNvSpPr/>
          <p:nvPr/>
        </p:nvSpPr>
        <p:spPr>
          <a:xfrm>
            <a:off x="7470648" y="4462272"/>
            <a:ext cx="91440" cy="25603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4" name="Text 42"/>
          <p:cNvSpPr/>
          <p:nvPr/>
        </p:nvSpPr>
        <p:spPr>
          <a:xfrm>
            <a:off x="7909560" y="42245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uuid5(vid, 2, 00:50)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payload: { video_id, chunk_index, timestamp }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55080" y="5084064"/>
            <a:ext cx="4937760" cy="768096"/>
          </a:xfrm>
          <a:prstGeom prst="roundRect">
            <a:avLst>
              <a:gd name="adj" fmla="val 107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37960" y="5458968"/>
            <a:ext cx="91440" cy="19202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7" name="Shape 45"/>
          <p:cNvSpPr/>
          <p:nvPr/>
        </p:nvSpPr>
        <p:spPr>
          <a:xfrm>
            <a:off x="6693408" y="5266944"/>
            <a:ext cx="91440" cy="38404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8" name="Shape 46"/>
          <p:cNvSpPr/>
          <p:nvPr/>
        </p:nvSpPr>
        <p:spPr>
          <a:xfrm>
            <a:off x="6848856" y="5394960"/>
            <a:ext cx="91440" cy="25603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9" name="Shape 47"/>
          <p:cNvSpPr/>
          <p:nvPr/>
        </p:nvSpPr>
        <p:spPr>
          <a:xfrm>
            <a:off x="7004304" y="5522976"/>
            <a:ext cx="91440" cy="12801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50" name="Shape 48"/>
          <p:cNvSpPr/>
          <p:nvPr/>
        </p:nvSpPr>
        <p:spPr>
          <a:xfrm>
            <a:off x="7159752" y="5330952"/>
            <a:ext cx="91440" cy="3200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51" name="Shape 49"/>
          <p:cNvSpPr/>
          <p:nvPr/>
        </p:nvSpPr>
        <p:spPr>
          <a:xfrm>
            <a:off x="7315200" y="5458968"/>
            <a:ext cx="91440" cy="19202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52" name="Shape 50"/>
          <p:cNvSpPr/>
          <p:nvPr/>
        </p:nvSpPr>
        <p:spPr>
          <a:xfrm>
            <a:off x="7470648" y="5266944"/>
            <a:ext cx="91440" cy="38404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53" name="Text 51"/>
          <p:cNvSpPr/>
          <p:nvPr/>
        </p:nvSpPr>
        <p:spPr>
          <a:xfrm>
            <a:off x="7909560" y="51572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uuid5(vid, 3, 01:15)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payload: { video_id, chunk_index, timestamp }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355080" y="59893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768-D vector  +  timestamp payload on every point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 &amp; ALGORITHMS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Retrieval Mechanics: Dual-Index Search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17136" y="155448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0" y="155448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is backpropagation derived?”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4476" y="2331720"/>
            <a:ext cx="-2651760" cy="5029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94476" y="2331720"/>
            <a:ext cx="2651760" cy="5029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" y="2926080"/>
            <a:ext cx="4846320" cy="1965960"/>
          </a:xfrm>
          <a:prstGeom prst="roundRect">
            <a:avLst>
              <a:gd name="adj" fmla="val 4186"/>
            </a:avLst>
          </a:prstGeom>
          <a:solidFill>
            <a:srgbClr val="EEF2FF"/>
          </a:solidFill>
          <a:ln w="15875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31272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QUERY ROUTE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34440" y="345643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Qdrant's transcript collection to locate relevant spoken keywords.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28232" y="2926080"/>
            <a:ext cx="4846320" cy="1965960"/>
          </a:xfrm>
          <a:prstGeom prst="roundRect">
            <a:avLst>
              <a:gd name="adj" fmla="val 4186"/>
            </a:avLst>
          </a:prstGeom>
          <a:solidFill>
            <a:srgbClr val="ECFDF5"/>
          </a:solidFill>
          <a:ln w="15875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48272" y="31272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QUERY ROUTE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48272" y="345643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the query using SigLIP to search the indexed keyframe collections.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37560" y="4892040"/>
            <a:ext cx="2651760" cy="5029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851392" y="4892040"/>
            <a:ext cx="-2651760" cy="5029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17136" y="5394960"/>
            <a:ext cx="3154680" cy="822960"/>
          </a:xfrm>
          <a:prstGeom prst="roundRect">
            <a:avLst>
              <a:gd name="adj" fmla="val 8889"/>
            </a:avLst>
          </a:prstGeom>
          <a:solidFill>
            <a:srgbClr val="3730A3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539496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Fusion (RRF)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result lists merged — next slide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1554480"/>
            <a:ext cx="2578608" cy="777240"/>
          </a:xfrm>
          <a:prstGeom prst="roundRect">
            <a:avLst>
              <a:gd name="adj" fmla="val 1058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162763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Execution — </a:t>
            </a:r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run simultaneously to avoid processing lag.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 &amp; ALGORITHMS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 Unification: Reciprocal Rank Fusion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651760" y="1645920"/>
            <a:ext cx="688543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834640" y="1874520"/>
            <a:ext cx="6519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RRF_Score</a:t>
            </a:r>
            <a:pPr algn="ctr" indent="0" marL="0">
              <a:buNone/>
            </a:pPr>
            <a:r>
              <a:rPr lang="en-US" sz="2600" i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 ∈ D)  =  </a:t>
            </a:r>
            <a:pPr algn="ctr" indent="0" marL="0">
              <a:buNone/>
            </a:pPr>
            <a:r>
              <a:rPr lang="en-US" sz="40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pPr algn="ctr" indent="0" marL="0">
              <a:buNone/>
            </a:pPr>
            <a:r>
              <a:rPr lang="en-US" sz="1300" baseline="-40000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m∈M</a:t>
            </a:r>
            <a:pPr algn="ctr" indent="0" marL="0">
              <a:buNone/>
            </a:pPr>
            <a:r>
              <a:rPr lang="en-US" sz="2600" i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1 ∕ ( k + r</a:t>
            </a:r>
            <a:pPr algn="ctr" indent="0" marL="0">
              <a:buNone/>
            </a:pPr>
            <a:r>
              <a:rPr lang="en-US" sz="1300" baseline="-40000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ctr" indent="0" marL="0">
              <a:buNone/>
            </a:pPr>
            <a:r>
              <a:rPr lang="en-US" sz="2600" i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(d) 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834640" y="3200400"/>
            <a:ext cx="6519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score per video segment, summed across the text and vision retrievers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363931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4370832"/>
            <a:ext cx="402336" cy="402336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42336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4389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RRF Advantage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1248" y="495604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Blends separate text and image rankings, outperforming simple cosine score averaging.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9392" y="4114800"/>
            <a:ext cx="363931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4370832"/>
            <a:ext cx="402336" cy="402336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42336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4389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Consistent Performance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495604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Prioritizes video segments that rank high in both spoken content and visual context.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10144" y="4114800"/>
            <a:ext cx="363931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02752" y="4370832"/>
            <a:ext cx="402336" cy="402336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9" name="Text 17"/>
          <p:cNvSpPr/>
          <p:nvPr/>
        </p:nvSpPr>
        <p:spPr>
          <a:xfrm>
            <a:off x="8165592" y="42336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51392" y="4389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Formula Variables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02752" y="495604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is a smoothing constant; rₘ(d) represents the document’s rank inside retrieval model m.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 &amp; ALGORITHMS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Generation Engine: Gemini 3.1 Flash Lite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EEF2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783080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Context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top-ranked transcript chunks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154680" y="2171700"/>
            <a:ext cx="1234440" cy="10515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28346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EEF2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2834640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Frames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keyframes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54680" y="3223260"/>
            <a:ext cx="123444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388620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EEF2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" y="3886200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instructions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154680" y="4274820"/>
            <a:ext cx="1234440" cy="-10515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34840" y="237744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3730A3"/>
          </a:solidFill>
          <a:ln/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34840" y="237744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Gemini 3.1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Flash Lite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multimodal synthesis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269480" y="3072384"/>
            <a:ext cx="640080" cy="292608"/>
          </a:xfrm>
          <a:prstGeom prst="rightArrow">
            <a:avLst/>
          </a:prstGeom>
          <a:solidFill>
            <a:srgbClr val="047857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196596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ECFDF5"/>
          </a:solidFill>
          <a:ln w="1905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21762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Structured, cited answer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21040" y="2542032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“Backpropagation is derived by applying the chain rule to the loss…”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[12:34]  [15:02]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3639312" cy="1554480"/>
          </a:xfrm>
          <a:prstGeom prst="roundRect">
            <a:avLst>
              <a:gd name="adj" fmla="val 529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Synthesis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52852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Gemini 3.1 Flash Lite to process both text and visual inputs for ultra-fast generation times.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79392" y="4800600"/>
            <a:ext cx="3639312" cy="1554480"/>
          </a:xfrm>
          <a:prstGeom prst="roundRect">
            <a:avLst>
              <a:gd name="adj" fmla="val 529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 Grounding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53712" y="52852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Constrains the model's responses to the retrieved video segments to prevent hallucinations.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10144" y="4800600"/>
            <a:ext cx="3639312" cy="1554480"/>
          </a:xfrm>
          <a:prstGeom prst="roundRect">
            <a:avLst>
              <a:gd name="adj" fmla="val 529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4464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Citations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84464" y="52852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attaches timestamp links to facts, mapping them back to the exact video source.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 Preservation &amp; Rolling Summarization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6824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25296" y="1783080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Limitations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25296" y="2084832"/>
            <a:ext cx="42153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 a 500-token limit on active chat history to maintain fast response times.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2841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31912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3291840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 Engine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25296" y="3593592"/>
            <a:ext cx="42153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Gemini to summarize older conversation turns, keeping the core context intact.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3717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7000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↓$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25296" y="4800600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Optimization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25296" y="5102352"/>
            <a:ext cx="42153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long-running chat sessions from exceeding API limits or spiking costs.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1572768"/>
            <a:ext cx="557784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810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turns collapse — recent turns stay verbatim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2267712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E5E7EB">
              <a:alpha val="85000"/>
            </a:srgbClr>
          </a:solidFill>
          <a:ln w="9525">
            <a:solidFill>
              <a:srgbClr val="9CA3A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638544" y="2578608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E5E7EB">
              <a:alpha val="73000"/>
            </a:srgbClr>
          </a:solidFill>
          <a:ln w="9525">
            <a:solidFill>
              <a:srgbClr val="9CA3AF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784848" y="2889504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E5E7EB">
              <a:alpha val="61000"/>
            </a:srgbClr>
          </a:solidFill>
          <a:ln w="9525">
            <a:solidFill>
              <a:srgbClr val="9CA3A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58368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turns 1–8…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52360" y="3429000"/>
            <a:ext cx="219456" cy="292608"/>
          </a:xfrm>
          <a:prstGeom prst="downArrow">
            <a:avLst/>
          </a:prstGeom>
          <a:solidFill>
            <a:srgbClr val="047857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0" y="3840480"/>
            <a:ext cx="242316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395020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spc="12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BLOCK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context of turns 1–8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89720" y="2377440"/>
            <a:ext cx="2148840" cy="731520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2377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“And the learning rate?”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89720" y="3291840"/>
            <a:ext cx="21488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0" y="32918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VidEx: “Set to 0.001 at [22:10]…”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89720" y="4069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turns — kept in full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5120640"/>
            <a:ext cx="4663440" cy="658368"/>
          </a:xfrm>
          <a:prstGeom prst="roundRect">
            <a:avLst>
              <a:gd name="adj" fmla="val 1388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512064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500 tokens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active history sent with every request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· STEP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 Journey Step 1: Library Ingestion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420624" cy="42062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6824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25296" y="1783080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Uploads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25296" y="2084832"/>
            <a:ext cx="40325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local video files directly into the dashboard interface.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28416"/>
            <a:ext cx="420624" cy="42062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31912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25296" y="3291840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Integration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25296" y="3593592"/>
            <a:ext cx="40325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YouTube links or Google Drive file URLs for immediate processing.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37176"/>
            <a:ext cx="420624" cy="42062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7000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5296" y="4800600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Tracking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25296" y="5102352"/>
            <a:ext cx="40325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progress bars show the active status of the background indexing jobs.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23560" y="1481328"/>
            <a:ext cx="598932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pic>
        <p:nvPicPr>
          <p:cNvPr id="17" name="Image 0" descr="shots/upload_por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97880" y="1755648"/>
            <a:ext cx="544068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· STEP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 Journey Step 2: Contextual Chat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98932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pic>
        <p:nvPicPr>
          <p:cNvPr id="5" name="Image 0" descr="shots/chat_workspa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55648"/>
            <a:ext cx="5440680" cy="4233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181965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0" y="16824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0376" y="1783080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Workspace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80376" y="2084832"/>
            <a:ext cx="40325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the video player and chat interface side-by-side in a single view.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903720" y="332841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1" name="Text 8"/>
          <p:cNvSpPr/>
          <p:nvPr/>
        </p:nvSpPr>
        <p:spPr>
          <a:xfrm>
            <a:off x="6766560" y="31912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M↓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80376" y="3291840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Formatting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580376" y="3593592"/>
            <a:ext cx="40325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rendered in Markdown with code highlighting and structured lists.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903720" y="483717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5" name="Text 12"/>
          <p:cNvSpPr/>
          <p:nvPr/>
        </p:nvSpPr>
        <p:spPr>
          <a:xfrm>
            <a:off x="6766560" y="47000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❞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580376" y="4800600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Interface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580376" y="5102352"/>
            <a:ext cx="40325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query complex video content as if they were talking directly to a tutor.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· STEP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 Journey Step 3: Source Verification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420624" cy="42062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6824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25296" y="1783080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Hyperlinked Badges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25296" y="2084832"/>
            <a:ext cx="40325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citation badges (e.g., [12:34]) next to generated facts.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28416"/>
            <a:ext cx="420624" cy="42062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31912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3291840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Seek Integration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25296" y="3593592"/>
            <a:ext cx="40325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Clicking a badge instantly seeks and plays the video from that exact timestamp.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37176"/>
            <a:ext cx="420624" cy="42062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7000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25296" y="4800600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Trust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25296" y="5102352"/>
            <a:ext cx="40325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immediate verification of the AI's responses against the original source lecture.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23560" y="1481328"/>
            <a:ext cx="5989320" cy="48006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182880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95681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professor derives the loss gradient using the chain rule, then simplifies the update step…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2724912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7249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[12:34]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0568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30723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47688" y="3310128"/>
            <a:ext cx="0" cy="685800"/>
          </a:xfrm>
          <a:prstGeom prst="line">
            <a:avLst/>
          </a:prstGeom>
          <a:noFill/>
          <a:ln w="28575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989320" y="406908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111827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0" y="443484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5400000">
            <a:off x="8449056" y="4617720"/>
            <a:ext cx="347472" cy="365760"/>
          </a:xfrm>
          <a:prstGeom prst="triangle">
            <a:avLst/>
          </a:prstGeom>
          <a:solidFill>
            <a:srgbClr val="1118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09360" y="5486400"/>
            <a:ext cx="4572000" cy="128016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/>
        </p:spPr>
      </p:sp>
      <p:sp>
        <p:nvSpPr>
          <p:cNvPr id="28" name="Shape 26"/>
          <p:cNvSpPr/>
          <p:nvPr/>
        </p:nvSpPr>
        <p:spPr>
          <a:xfrm>
            <a:off x="6309360" y="5486400"/>
            <a:ext cx="1920240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8138160" y="5422392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56875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12:34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Advanced Feature: Screenshot Analysis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pic>
        <p:nvPicPr>
          <p:cNvPr id="5" name="Image 0" descr="shots/screenshot_uplo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28800"/>
            <a:ext cx="4937760" cy="2606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2880360"/>
            <a:ext cx="621792" cy="502920"/>
          </a:xfrm>
          <a:prstGeom prst="rightArrow">
            <a:avLst/>
          </a:prstGeom>
          <a:solidFill>
            <a:srgbClr val="047857"/>
          </a:solidFill>
          <a:ln/>
        </p:spPr>
      </p:sp>
      <p:sp>
        <p:nvSpPr>
          <p:cNvPr id="7" name="Shape 4"/>
          <p:cNvSpPr/>
          <p:nvPr/>
        </p:nvSpPr>
        <p:spPr>
          <a:xfrm>
            <a:off x="6793992" y="1600200"/>
            <a:ext cx="484632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pic>
        <p:nvPicPr>
          <p:cNvPr id="8" name="Image 1" descr="shots/screenshot_explain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22592" y="1828800"/>
            <a:ext cx="4389120" cy="2606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4892040"/>
            <a:ext cx="363931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2296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Prompts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22960" y="537667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upload direct screenshots of slides alongside their text questions.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79392" y="4892040"/>
            <a:ext cx="363931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553712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Cross-Modal Verification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53712" y="537667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SigLIP maps the image to the video's indexed frame database to locate the exact milestone.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10144" y="4892040"/>
            <a:ext cx="363931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284464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Explanations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284464" y="537667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analyzes the visual context to explain what is shown in the slide.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Integrity &amp; Testing Suites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3730A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SUITE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480560" y="1737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VERIFIES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195560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77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Integration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80560" y="23774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suites ensure system stability across updates.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378440" y="2596896"/>
            <a:ext cx="384048" cy="384048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0" y="24597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46704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4670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Schema Tests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80560" y="334670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vector coordinate lengths, scoring boundaries, and data formats.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378440" y="3566160"/>
            <a:ext cx="384048" cy="384048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0" y="3429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315968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1596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Window Tests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480560" y="431596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correct overlaps are maintained to prevent data loss.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378440" y="4535424"/>
            <a:ext cx="384048" cy="384048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0" y="43982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285232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2852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Sanitization Tests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480560" y="52852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link security checks to prevent malformed URL imports.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378440" y="5504688"/>
            <a:ext cx="384048" cy="384048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7" name="Text 25"/>
          <p:cNvSpPr/>
          <p:nvPr/>
        </p:nvSpPr>
        <p:spPr>
          <a:xfrm>
            <a:off x="10241280" y="53675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merge runs the full suite — green across the board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 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Production Readiness: Container Architecture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43000" y="1920240"/>
            <a:ext cx="4206240" cy="822960"/>
          </a:xfrm>
          <a:prstGeom prst="roundRect">
            <a:avLst>
              <a:gd name="adj" fmla="val 11111"/>
            </a:avLst>
          </a:prstGeom>
          <a:solidFill>
            <a:srgbClr val="047857"/>
          </a:solidFill>
          <a:ln/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920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VidEx application code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05840" y="2907792"/>
            <a:ext cx="4480560" cy="822960"/>
          </a:xfrm>
          <a:prstGeom prst="roundRect">
            <a:avLst>
              <a:gd name="adj" fmla="val 11111"/>
            </a:avLst>
          </a:prstGeom>
          <a:solidFill>
            <a:srgbClr val="3730A3"/>
          </a:solidFill>
          <a:ln/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9077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 — statically compiled binaries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895344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6366F1"/>
          </a:solidFill>
          <a:ln/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89534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Python environment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882896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312E81"/>
          </a:solidFill>
          <a:ln/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88289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Docker base image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image — layered build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195681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8196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14616" y="1920240"/>
            <a:ext cx="439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Containerization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14616" y="2221992"/>
            <a:ext cx="43982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containerized using production-ready Docker base images.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346557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3284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14616" y="3429000"/>
            <a:ext cx="439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Layers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214616" y="3730752"/>
            <a:ext cx="43982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lightweight Python environments and statically compiled FFmpeg binaries.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4974336"/>
            <a:ext cx="420624" cy="420624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83717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HF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14616" y="4937760"/>
            <a:ext cx="439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Compatibility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14616" y="5239512"/>
            <a:ext cx="43982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for direct deployment on Hugging Face Spaces registries.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 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Commercial Scaling &amp; Subscription Architecture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34440" y="3291840"/>
            <a:ext cx="21488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3538728"/>
            <a:ext cx="292608" cy="292608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01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34930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video upload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4105656"/>
            <a:ext cx="292608" cy="292608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68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40599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10-minute maximum duration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4672584"/>
            <a:ext cx="292608" cy="292608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35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46268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text search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34256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3730A3"/>
          </a:solidFill>
          <a:ln/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17236" y="194767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317236" y="19476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0016" y="23500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0056" y="3017520"/>
            <a:ext cx="2148840" cy="0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4608576" y="3127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02936" y="3218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uploads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45736" y="3831336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02936" y="37856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60-minute duration caps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45736" y="4398264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4608576" y="4261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02936" y="435254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cross-modal search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45736" y="4965192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4608576" y="4828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02936" y="4919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analysis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19872" y="19659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85632" y="22402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UP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485632" y="26243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8805672" y="3291840"/>
            <a:ext cx="21488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31352" y="3538728"/>
            <a:ext cx="292608" cy="292608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39" name="Text 37"/>
          <p:cNvSpPr/>
          <p:nvPr/>
        </p:nvSpPr>
        <p:spPr>
          <a:xfrm>
            <a:off x="8394192" y="3401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988552" y="34930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database nodes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31352" y="4105656"/>
            <a:ext cx="292608" cy="292608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42" name="Text 40"/>
          <p:cNvSpPr/>
          <p:nvPr/>
        </p:nvSpPr>
        <p:spPr>
          <a:xfrm>
            <a:off x="8394192" y="3968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88552" y="40599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computing power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531352" y="4672584"/>
            <a:ext cx="292608" cy="292608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45" name="Text 43"/>
          <p:cNvSpPr/>
          <p:nvPr/>
        </p:nvSpPr>
        <p:spPr>
          <a:xfrm>
            <a:off x="8394192" y="4535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988552" y="46268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Customizable SLAs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 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Technical Obstacles &amp; Resolution Log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4173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 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780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 RESOLUTION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350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34440" y="2103120"/>
            <a:ext cx="4892040" cy="1207008"/>
          </a:xfrm>
          <a:prstGeom prst="roundRect">
            <a:avLst>
              <a:gd name="adj" fmla="val 681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2212848"/>
            <a:ext cx="4315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Bloat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thousands of frames spiked vector database costs.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560320"/>
            <a:ext cx="502920" cy="274320"/>
          </a:xfrm>
          <a:prstGeom prst="rightArrow">
            <a:avLst/>
          </a:prstGeom>
          <a:solidFill>
            <a:srgbClr val="047857"/>
          </a:solidFill>
          <a:ln/>
        </p:spPr>
      </p:sp>
      <p:sp>
        <p:nvSpPr>
          <p:cNvPr id="11" name="Shape 9"/>
          <p:cNvSpPr/>
          <p:nvPr/>
        </p:nvSpPr>
        <p:spPr>
          <a:xfrm>
            <a:off x="6903720" y="2103120"/>
            <a:ext cx="4736592" cy="1207008"/>
          </a:xfrm>
          <a:prstGeom prst="roundRect">
            <a:avLst>
              <a:gd name="adj" fmla="val 681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2212848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duplicate and blurry frames using pHash and Laplacian variance.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767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34440" y="3520440"/>
            <a:ext cx="4892040" cy="1207008"/>
          </a:xfrm>
          <a:prstGeom prst="roundRect">
            <a:avLst>
              <a:gd name="adj" fmla="val 681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36192" y="3630168"/>
            <a:ext cx="4315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Latency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Whisper and SigLIP slowed down the main web servers.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3977640"/>
            <a:ext cx="502920" cy="274320"/>
          </a:xfrm>
          <a:prstGeom prst="rightArrow">
            <a:avLst/>
          </a:prstGeom>
          <a:solidFill>
            <a:srgbClr val="047857"/>
          </a:solidFill>
          <a:ln/>
        </p:spPr>
      </p:sp>
      <p:sp>
        <p:nvSpPr>
          <p:cNvPr id="18" name="Shape 16"/>
          <p:cNvSpPr/>
          <p:nvPr/>
        </p:nvSpPr>
        <p:spPr>
          <a:xfrm>
            <a:off x="6903720" y="3520440"/>
            <a:ext cx="4736592" cy="1207008"/>
          </a:xfrm>
          <a:prstGeom prst="roundRect">
            <a:avLst>
              <a:gd name="adj" fmla="val 681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3630168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processing to serverless Modal GPU endpoints.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21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51846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34440" y="4937760"/>
            <a:ext cx="4892040" cy="1207008"/>
          </a:xfrm>
          <a:prstGeom prst="roundRect">
            <a:avLst>
              <a:gd name="adj" fmla="val 681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36192" y="5047488"/>
            <a:ext cx="4315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Clipping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30-second audio cuts broke sentences in half.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5394960"/>
            <a:ext cx="502920" cy="274320"/>
          </a:xfrm>
          <a:prstGeom prst="rightArrow">
            <a:avLst/>
          </a:prstGeom>
          <a:solidFill>
            <a:srgbClr val="047857"/>
          </a:solidFill>
          <a:ln/>
        </p:spPr>
      </p:sp>
      <p:sp>
        <p:nvSpPr>
          <p:cNvPr id="25" name="Shape 23"/>
          <p:cNvSpPr/>
          <p:nvPr/>
        </p:nvSpPr>
        <p:spPr>
          <a:xfrm>
            <a:off x="6903720" y="4937760"/>
            <a:ext cx="4736592" cy="1207008"/>
          </a:xfrm>
          <a:prstGeom prst="roundRect">
            <a:avLst>
              <a:gd name="adj" fmla="val 681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5047488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a 5,000 ms sliding stride overlap.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 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Future Milestones &amp; Features Roadmap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280160" y="3017520"/>
            <a:ext cx="969264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0824" y="2889504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47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95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338328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703320"/>
            <a:ext cx="512064" cy="51206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661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Multilingual Support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486460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Upgrading transcription steps to support multi-language video lectures.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15584" y="2889504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395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51960" y="3429000"/>
            <a:ext cx="338328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3703320"/>
            <a:ext cx="512064" cy="51206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35661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OCR Keyframe Extraction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0" y="486460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direct OCR filters to extract and index on-screen text, whiteboard handwriting, and code blocks.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10344" y="2889504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2395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0" y="3429000"/>
            <a:ext cx="338328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66760" y="3703320"/>
            <a:ext cx="512064" cy="51206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35661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◉—◉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6676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Knowledge Graphs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366760" y="486460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concept maps across multiple videos to enable comprehensive syllabus-wide search.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26364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validated RAG pipeline to syllabus-wide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0428" y="868680"/>
            <a:ext cx="768096" cy="76809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5939028" y="1069848"/>
            <a:ext cx="365760" cy="365760"/>
          </a:xfrm>
          <a:prstGeom prst="triangle">
            <a:avLst/>
          </a:prstGeom>
          <a:solidFill>
            <a:srgbClr val="3730A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9202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0632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7D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VidEx — Multimodal RAG Video Intelligence Platform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442716" y="3703320"/>
            <a:ext cx="5303520" cy="475488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</p:sp>
      <p:sp>
        <p:nvSpPr>
          <p:cNvPr id="7" name="Text 5"/>
          <p:cNvSpPr/>
          <p:nvPr/>
        </p:nvSpPr>
        <p:spPr>
          <a:xfrm>
            <a:off x="3442716" y="370332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Open for Committee Questions &amp; Live Demonstration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0" y="44348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Graduation Project Technical Defense  ·  Digital Egypt Pioneers Initiative (DEPI)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5166360"/>
            <a:ext cx="1218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STACK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71016" y="548640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3730A3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71016" y="5486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16936" y="548640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3730A3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6936" y="5486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62856" y="548640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3730A3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5486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8776" y="548640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3730A3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5486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54696" y="548640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3730A3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54696" y="5486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00616" y="548640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3730A3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0616" y="5486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VidEx — Multimodal RAG Video Intelligence</dc:title>
  <dc:subject>PptxGenJS Presentation</dc:subject>
  <dc:creator>VidEx Team</dc:creator>
  <cp:lastModifiedBy>VidEx Team</cp:lastModifiedBy>
  <cp:revision>1</cp:revision>
  <dcterms:created xsi:type="dcterms:W3CDTF">2026-07-14T08:49:00Z</dcterms:created>
  <dcterms:modified xsi:type="dcterms:W3CDTF">2026-07-14T08:49:00Z</dcterms:modified>
</cp:coreProperties>
</file>